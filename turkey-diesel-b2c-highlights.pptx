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9D9E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C9D9EE"/>
                </a:solidFill>
                <a:latin typeface="Calibri"/>
              </a:rPr>
              <a:t>2026 monthly sales, % change y/y (EPDK)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Diesel (motorin)</c:v>
                </c:pt>
              </c:strCache>
            </c:strRef>
          </c:tx>
          <c:spPr>
            <a:solidFill>
              <a:srgbClr val="D645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C9D9E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-1.7</c:v>
                </c:pt>
                <c:pt idx="1">
                  <c:v>1.1</c:v>
                </c:pt>
                <c:pt idx="2">
                  <c:v>8.1</c:v>
                </c:pt>
                <c:pt idx="3">
                  <c:v>-4.1</c:v>
                </c:pt>
                <c:pt idx="4">
                  <c:v>-15.7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Gasoline (benzin)</c:v>
                </c:pt>
              </c:strCache>
            </c:strRef>
          </c:tx>
          <c:spPr>
            <a:solidFill>
              <a:srgbClr val="3FA37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C9D9E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9.1</c:v>
                </c:pt>
                <c:pt idx="1">
                  <c:v>17.7</c:v>
                </c:pt>
                <c:pt idx="2">
                  <c:v>8.1</c:v>
                </c:pt>
                <c:pt idx="3">
                  <c:v>6.1</c:v>
                </c:pt>
                <c:pt idx="4">
                  <c:v>11.4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C9D9E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C416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9E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41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C416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5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9D9E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3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2330"/>
                </a:solidFill>
                <a:latin typeface="Calibri"/>
              </a:rPr>
              <a:t>Total market share, % (EPDK, all white products)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 2023</c:v>
                </c:pt>
              </c:strCache>
            </c:strRef>
          </c:tx>
          <c:spPr>
            <a:solidFill>
              <a:srgbClr val="B9C4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Petrol Ofisi</c:v>
                  </c:pt>
                  <c:pt idx="1">
                    <c:v>Shell</c:v>
                  </c:pt>
                  <c:pt idx="2">
                    <c:v>Opet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21.9</c:v>
                </c:pt>
                <c:pt idx="1">
                  <c:v>19.7</c:v>
                </c:pt>
                <c:pt idx="2">
                  <c:v>18.9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 2026</c:v>
                </c:pt>
              </c:strCache>
            </c:strRef>
          </c:tx>
          <c:spPr>
            <a:solidFill>
              <a:srgbClr val="1624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Petrol Ofisi</c:v>
                  </c:pt>
                  <c:pt idx="1">
                    <c:v>Shell</c:v>
                  </c:pt>
                  <c:pt idx="2">
                    <c:v>Opet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26.4</c:v>
                </c:pt>
                <c:pt idx="1">
                  <c:v>20.4</c:v>
                </c:pt>
                <c:pt idx="2">
                  <c:v>20.4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23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3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23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context: 2025 was a record year (27.1 Mt diesel, +3.7%) flattered by discounted Russian-origin imports. 2026 declines come off that high base. Sources: EPDK monthly sector reports; IEA; TUIK.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Shares: EPDK monthly distributor tables via press (Enerji Ekonomisi). 2024: Shell lost ~0.3pt and the #2 rank to Opet. Diesel-by-brand volumes: PO ~606k t, Opet ~410k t, Shell ~370k t per month in spring 2026 (verify exact month in EPDK PDF).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decisive cross-tabs (company x channel, company x province) are confidential at EPDK - only internal data answers the split. EPDK bilgi edinme request is an option for anonymized channel aggregates.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Turkey's diesel demand rolled over in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EPDK volumes: a diesel-specific decline, not a general fuel slump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−15.7%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423160" y="143560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sales y/y, May 2026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(≈3% cumulative Jan–May)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FA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+11.4%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423160" y="24871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gasoline sales y/y, May 2026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crossover continues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35387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share of new-car sales, H1 2026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62% in 2015)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212080" y="1280160"/>
          <a:ext cx="64465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4709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20334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9103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24712" y="4846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— Iran war shock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04088" y="53218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disruption hit distillates hardest; pump diesel briefly &gt;80 TL/L in March, back to ~75 TL/L in July. Timing matches the April–May slide.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325112" y="4709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20334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49103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46904" y="4846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— freight &amp; farms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26280" y="53218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−0.8% in Q1; agriculture −8.8% in 2025 (drought, frost); Turkish hauliers ceded the Iran corridor to Iranian-fuelled trucks.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147304" y="4709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20334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491032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69096" y="4846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— de-dieselization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348472" y="53218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Hybrids + EVs took &gt;51% of new-car sales in 2026; diesel car park slid 38.3% → 32.1% since 2020. This part doesn’t reverse.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is losing diesel faster than the market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half market, half competitive position — and the competitive half sits in fleet/commercial diesel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00200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6344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8463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diesel-specific.  </a:t>
            </a:r>
            <a:pPr indent="0" marL="0">
              <a:buNone/>
            </a:pPr>
            <a:r>
              <a:rPr lang="en-US" sz="11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Shell’s diesel share (~17–19%) runs below its total share; PO’s (~27–31%) runs above. Shell is #1 in gasoline — the growing product — which masks the diesel loss in totals.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897880" y="1645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5897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46520" y="16002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 bulked up; Shell stayed ~1,250 sites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46520" y="205740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absorbed BP’s ~770 stations (→ ~2,700 sites, 26.4% share; conversions done by Nov 2026). Opet (~1,950 sites) overtook Shell as #2. Shell’s network grew slightly and out-earns per station (2.14× sector) — it’s a scale gap, not attrition.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97880" y="327355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322783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Underweight the fleet/commercial channel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446520" y="3685032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Shell’s station-channel share (~21–22%) exceeds its all-channel share — it is light exactly where diesel volume survives: contracted freight fleets, wholesale, fleet cards (PO AutoMatic, Border Pass).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97880" y="490118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58978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46520" y="485546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economics flipped in 2026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46520" y="5312664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ended cheap Russian-origin import barrels; supply shifted to Tüpraş (domestic diesel +20% y/y in Q1). Natural winners: Koç-linked Opet and Vitol-backed PO, with ~4× Shell’s terminal capacity.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diesel: where did the liters go — and what to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destinations — public data can’t split them, but our internal data can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0334F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600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705356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7592" y="16002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destruction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04088" y="2212848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diesel is structurally dying (new-car share ~6%) and 75–80 TL/L prices cut driving. Verified by EPDK province volumes + TÜİK fleet data.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0334F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600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1705356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9784" y="16002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Reclassified to B2B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26280" y="2212848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UTTS makes fleet/TTS rails mandatory for fuel tax deductions (~8M taxpayers). Business liters that looked like B2C now count as B2B — same pumps, same volume.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47304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0334F"/>
          </a:solidFill>
          <a:ln/>
        </p:spPr>
      </p:sp>
      <p:sp>
        <p:nvSpPr>
          <p:cNvPr id="15" name="Shape 11"/>
          <p:cNvSpPr/>
          <p:nvPr/>
        </p:nvSpPr>
        <p:spPr>
          <a:xfrm>
            <a:off x="8348472" y="1600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1705356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51976" y="16002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competitors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48472" y="2212848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460+ ex-BP sites now feed PO’s loyalty/fleet ecosystem; Opet expanding with a Tüpraş supply edge. Concentrated in specific corridors, not nationwide.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657600"/>
            <a:ext cx="1118311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3822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find out — four checks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77240" y="4224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Mirror test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77240" y="454456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our B2C pump diesel vs our TTS/fleet diesel by month. Mirror image = channel migration; both falling = demand loss.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3520440" y="4224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Loyalty-ID tracking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3520440" y="454456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B2C customers: do their IDs reappear on Shell fleet cards (internal shift, not a loss) or vanish (churn)?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263640" y="4224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Province triangulation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263640" y="454456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EPDK Ek-1 il-level volumes × our share per province; where our share fell, map ex-BP→PO conversions by ilçe via the license registry.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9006840" y="4224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Fleet-card benchmark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9006840" y="454456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Shell Filo terms vs PO AutoMatic / Border Pass and Opet’s Koç corporate access — the channel where diesel volume survives.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502920" y="6080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Q4 2026:  </a:t>
            </a:r>
            <a:pPr indent="0" marL="0">
              <a:buNone/>
            </a:pPr>
            <a:r>
              <a:rPr lang="en-US" sz="12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eşel-mobil ÖTV support ends 1 October — another pump-price step-up, renewed pressure on both B2C volume and the migration incentive.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2026-08-03T13:03:05Z</dcterms:created>
  <dcterms:modified xsi:type="dcterms:W3CDTF">2026-08-03T13:03:05Z</dcterms:modified>
</cp:coreProperties>
</file>